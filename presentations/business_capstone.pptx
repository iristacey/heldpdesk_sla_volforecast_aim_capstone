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4000" b="1">
                <a:solidFill>
                  <a:srgbClr val="FFFFFF"/>
                </a:solidFill>
                <a:latin typeface="DejaVu Sans"/>
              </a:defRPr>
            </a:pPr>
            <a:r>
              <a:t>Help Desk Ticket SLA and Volume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48840"/>
            <a:ext cx="1463040" cy="73152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058400" cy="181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Business-facing capstone summary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Retrospective priority-reference insights and week/month daily-arrival forecasts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2000">
                <a:solidFill>
                  <a:srgbClr val="D6E2ED"/>
                </a:solidFill>
                <a:latin typeface="DejaVu Sans"/>
              </a:defRPr>
            </a:pPr>
            <a:r>
              <a:t>Historical evidence to inform a possible human-reviewed capacity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The business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405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How often did completed Ticket records meet the configured priority references?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Can the past daily arrival pattern support a useful next-week estimate?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What evidence is still needed before planners use a forecast?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What the data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85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Source identity verified. Retain Mendeley CC BY 4.0; resolve the conflicting Kaggle CC0 label.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66,691 issues overall; 27,348 exact Ticket records in the documented date scope.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2,628 UTC dates from 2016-01-03 through 2023-03-14.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344 dates have no Ticket rows; the model assumes they are true zeros.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The source file and documentation disagree about pre-2016 creation dates; current demand is not represented.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Historical SLA-reference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52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Reference attainment by priority (see table below):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02942"/>
          <a:ext cx="10515600" cy="276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Priority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Reference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Met / Assessed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DejaVu Sans"/>
                        </a:rPr>
                        <a:t>Attainment</a:t>
                      </a:r>
                    </a:p>
                  </a:txBody>
                  <a:tcPr>
                    <a:solidFill>
                      <a:srgbClr val="1F3752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524 / 2,124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High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8h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576 / 3,146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18.3%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72 / 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Medium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24h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2,161 / 11,161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19.4%</a:t>
                      </a:r>
                    </a:p>
                  </a:txBody>
                  <a:tcPr>
                    <a:solidFill>
                      <a:srgbClr val="E8F0F7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1F3752"/>
                          </a:solidFill>
                          <a:latin typeface="DejaVu Sans"/>
                        </a:rP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3,333 / 16,735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>
                          <a:solidFill>
                            <a:srgbClr val="4B545D"/>
                          </a:solidFill>
                          <a:latin typeface="DejaVu Sans"/>
                        </a:rPr>
                        <a:t>19.9%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01584"/>
            <a:ext cx="10515600" cy="707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Thresholds and priority mapping are project settings, not owner-approved policy.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300">
                <a:solidFill>
                  <a:srgbClr val="4B545D"/>
                </a:solidFill>
                <a:latin typeface="DejaVu Sans"/>
              </a:defRPr>
            </a:pPr>
            <a:r>
              <a:t>•  Calendar wall-clock duration may not match the official SLA clock.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Month-ahead forecast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30-day validation selected ETS (weekly additive) with MAE 4.39 tickets/day.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Later historical test: MAE 4.67, RMSE 7.20, WAPE 27.5%.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Validation-calibrated 90% interval covered 87.7% of test dates.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7-day comparison: XGBoost autoregression (28-day lags), test MAE 5.05 tickets/day.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A month forecast is one estimate per day, not a guaranteed monthly total. These old results do not validate current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What the measures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41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MAE: average daily count miss. RMSE: larger misses weigh more.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WAPE compares total misses to actual volume; sMAPE summarizes daily relative error.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Interval coverage shows how often the historical test landed inside estimated bounds.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Intervals and errors may change when source coverage or operations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What remains unknown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84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Whether dates with no rows are fully covered zero-ticket days.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Whether the historical, masked-project data matches the target service today.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Whether the configured priority targets and time clock match approved SLA policy.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No staffing savings, avoided breach impact or ROI has been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Safe 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212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Resolve the mirror license label, source date-range mismatch and daily coverage.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Obtain service-owner approval for priority mapping, references and SLA clock.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Set forecast tolerances in advance and test on current, future-period data.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Pilot with human review; compare service outcomes and planner effort before estimating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Proof of work: a 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6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This is not only analysis on paper: the selected forecast model is packaged and runnable today.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A small web service (FastAPI) can return a forecast on request, showing the model works end to end.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Every run is logged (model choice, accuracy numbers) so results can be traced and reproduced later.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4B545D"/>
                </a:solidFill>
                <a:latin typeface="DejaVu Sans"/>
              </a:defRPr>
            </a:pPr>
            <a:r>
              <a:t>•  A ready to use Power BI folder holds both the SLA report and the volume forecast data, plus sample report screenshots, so a planner can see what the finished dashboard would look like.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None of this is a live production system yet; it is evidence the idea is technically workable and reviewable.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2800" b="1">
                <a:solidFill>
                  <a:srgbClr val="1F3752"/>
                </a:solidFill>
                <a:latin typeface="DejaVu Sans"/>
              </a:defRPr>
            </a:pPr>
            <a: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07008"/>
            <a:ext cx="1143000" cy="64008"/>
          </a:xfrm>
          <a:prstGeom prst="rect">
            <a:avLst/>
          </a:prstGeom>
          <a:solidFill>
            <a:srgbClr val="34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1405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Use this as an improved historical analysis and forecast prototype.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Do not automate SLA enforcement or staffing decisions from this evidence.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800">
                <a:solidFill>
                  <a:srgbClr val="4B545D"/>
                </a:solidFill>
                <a:latin typeface="DejaVu Sans"/>
              </a:defRPr>
            </a:pPr>
            <a:r>
              <a:t>•  Proceed only after data, policy and current-period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45D"/>
                </a:solidFill>
              </a:defRPr>
            </a:pPr>
            <a: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B545D"/>
                </a:solidFill>
                <a:latin typeface="DejaVu Sans"/>
              </a:defRPr>
            </a:pPr>
            <a:r>
              <a:t>Help Desk Ticket SLA and Volume Forecasting | Historical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