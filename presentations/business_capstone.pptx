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82" y="44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331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4000" b="1">
                <a:solidFill>
                  <a:srgbClr val="FFFFFF"/>
                </a:solidFill>
                <a:latin typeface="DejaVu Sans"/>
              </a:defRPr>
            </a:pPr>
            <a:r>
              <a:t>Help Desk Ticket SLA and Volume Forecasting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2148840"/>
            <a:ext cx="14630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3886200"/>
            <a:ext cx="10058400" cy="181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2000">
                <a:solidFill>
                  <a:srgbClr val="F2D7DA"/>
                </a:solidFill>
                <a:latin typeface="DejaVu Sans"/>
              </a:defRPr>
            </a:pPr>
            <a:r>
              <a:t>Business-facing capstone summary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2000">
                <a:solidFill>
                  <a:srgbClr val="F2D7DA"/>
                </a:solidFill>
                <a:latin typeface="DejaVu Sans"/>
              </a:defRPr>
            </a:pPr>
            <a:r>
              <a:rPr dirty="0"/>
              <a:t>Retrospective priority-reference insights and week/month daily-arrival forecasts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2000">
                <a:solidFill>
                  <a:srgbClr val="F2D7DA"/>
                </a:solidFill>
                <a:latin typeface="DejaVu Sans"/>
              </a:defRPr>
            </a:pPr>
            <a:r>
              <a:rPr dirty="0"/>
              <a:t>Historical evidence to inform a possible human-reviewed capacity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2A7AE"/>
                </a:solidFill>
                <a:latin typeface="DejaVu Sans"/>
              </a:defRPr>
            </a:pPr>
            <a:r>
              <a:t>BUSINESS CAPSTONE  |  SERVICE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2636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D79AA2"/>
                </a:solidFill>
                <a:latin typeface="DejaVu Sans"/>
              </a:defRPr>
            </a:pPr>
            <a:r>
              <a:t>Historical analysis of 27,348 scoped tickets  |  2016-2023  |  10 slides</a:t>
            </a:r>
          </a:p>
        </p:txBody>
      </p:sp>
      <p:sp>
        <p:nvSpPr>
          <p:cNvPr id="30" name="Rectangle 3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5B1220"/>
                </a:solidFill>
                <a:latin typeface="DejaVu Sans"/>
              </a:defRPr>
            </a:pPr>
            <a:r>
              <a:t>The business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1973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rPr dirty="0"/>
              <a:t>•  How often did completed Ticket records meet the configured priority references?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rPr dirty="0"/>
              <a:t>•  Can the past daily arrival pattern support a useful next-week estimate?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rPr dirty="0"/>
              <a:t>•  What evidence is still needed before planners use a forecast?</a:t>
            </a:r>
          </a:p>
          <a:p>
            <a:pPr>
              <a:lnSpc>
                <a:spcPct val="125000"/>
              </a:lnSpc>
              <a:spcAft>
                <a:spcPts val="0"/>
              </a:spcAft>
              <a:defRPr sz="1500" b="1">
                <a:solidFill>
                  <a:srgbClr val="C8102E"/>
                </a:solidFill>
                <a:latin typeface="DejaVu Sans"/>
              </a:defRPr>
            </a:pPr>
            <a:r>
              <a:rPr dirty="0"/>
              <a:t>Bottom line: the three driving questions are answered with historical evidence only — not a live operational guarantee.</a:t>
            </a:r>
          </a:p>
        </p:txBody>
      </p:sp>
      <p:sp>
        <p:nvSpPr>
          <p:cNvPr id="90" name="Rectangle Accent 90"/>
          <p:cNvSpPr/>
          <p:nvPr/>
        </p:nvSpPr>
        <p:spPr>
          <a:xfrm>
            <a:off x="621792" y="2987802"/>
            <a:ext cx="50292" cy="4762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A4448"/>
                </a:solidFill>
              </a:defRPr>
            </a:pPr>
            <a:r>
              <a:t>02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A4448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5B1220"/>
                </a:solidFill>
                <a:latin typeface="DejaVu Sans"/>
              </a:defRPr>
            </a:pPr>
            <a:r>
              <a:t>What the data covers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3421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Source identity verified. Retain Mendeley CC BY 4.0; resolve the conflicting Kaggle CC0 label.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66,691 issues overall; 27,348 exact Ticket records in the documented date scope.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2,628 UTC dates from 2016-01-03 through 2023-03-14.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344 dates have no Ticket rows; the model assumes they are true zeros.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The source file and documentation disagree about pre-2016 creation dates; current demand is not represented.</a:t>
            </a:r>
          </a:p>
          <a:p>
            <a:pPr>
              <a:lnSpc>
                <a:spcPct val="125000"/>
              </a:lnSpc>
              <a:spcAft>
                <a:spcPts val="0"/>
              </a:spcAft>
              <a:defRPr sz="1500" b="1">
                <a:solidFill>
                  <a:srgbClr val="C8102E"/>
                </a:solidFill>
                <a:latin typeface="DejaVu Sans"/>
              </a:defRPr>
            </a:pPr>
            <a:r>
              <a:t>Bottom line: one verified, well-documented ticket history backs every number, but current coverage and licensing caveats remain open.</a:t>
            </a:r>
          </a:p>
        </p:txBody>
      </p:sp>
      <p:sp>
        <p:nvSpPr>
          <p:cNvPr id="90" name="Rectangle Accent 90"/>
          <p:cNvSpPr/>
          <p:nvPr/>
        </p:nvSpPr>
        <p:spPr>
          <a:xfrm>
            <a:off x="621792" y="4435602"/>
            <a:ext cx="50292" cy="4762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A4448"/>
                </a:solidFill>
              </a:defRPr>
            </a:pPr>
            <a:r>
              <a:t>03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A4448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5B1220"/>
                </a:solidFill>
                <a:latin typeface="DejaVu Sans"/>
              </a:defRPr>
            </a:pPr>
            <a:r>
              <a:t>Historical SLA-reference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529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Reference attainment by priority (see table below):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2098944"/>
              </p:ext>
            </p:extLst>
          </p:nvPr>
        </p:nvGraphicFramePr>
        <p:xfrm>
          <a:off x="822960" y="2202942"/>
          <a:ext cx="10515600" cy="2231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1856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Priority</a:t>
                      </a:r>
                    </a:p>
                  </a:txBody>
                  <a:tcPr>
                    <a:solidFill>
                      <a:srgbClr val="5B12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Reference</a:t>
                      </a:r>
                    </a:p>
                  </a:txBody>
                  <a:tcPr>
                    <a:solidFill>
                      <a:srgbClr val="5B12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Met / Assessed</a:t>
                      </a:r>
                    </a:p>
                  </a:txBody>
                  <a:tcPr>
                    <a:solidFill>
                      <a:srgbClr val="5B12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Attainment</a:t>
                      </a:r>
                    </a:p>
                  </a:txBody>
                  <a:tcPr>
                    <a:solidFill>
                      <a:srgbClr val="5B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5B1220"/>
                          </a:solidFill>
                          <a:latin typeface="DejaVu Sans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4h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524 / 2,124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24.7%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5B1220"/>
                          </a:solidFill>
                          <a:latin typeface="DejaVu Sans"/>
                        </a:rPr>
                        <a:t>High</a:t>
                      </a:r>
                    </a:p>
                  </a:txBody>
                  <a:tcPr>
                    <a:solidFill>
                      <a:srgbClr val="FBEB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8h</a:t>
                      </a:r>
                    </a:p>
                  </a:txBody>
                  <a:tcPr>
                    <a:solidFill>
                      <a:srgbClr val="FBEB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576 / 3,146</a:t>
                      </a:r>
                    </a:p>
                  </a:txBody>
                  <a:tcPr>
                    <a:solidFill>
                      <a:srgbClr val="FBEB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18.3%</a:t>
                      </a:r>
                    </a:p>
                  </a:txBody>
                  <a:tcPr>
                    <a:solidFill>
                      <a:srgbClr val="FBEB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5B1220"/>
                          </a:solidFill>
                          <a:latin typeface="DejaVu Sans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24h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72 / 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23.7%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5B1220"/>
                          </a:solidFill>
                          <a:latin typeface="DejaVu Sans"/>
                        </a:rPr>
                        <a:t>Medium</a:t>
                      </a:r>
                    </a:p>
                  </a:txBody>
                  <a:tcPr>
                    <a:solidFill>
                      <a:srgbClr val="FBEB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24h</a:t>
                      </a:r>
                    </a:p>
                  </a:txBody>
                  <a:tcPr>
                    <a:solidFill>
                      <a:srgbClr val="FBEB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2,161 / 11,161</a:t>
                      </a:r>
                    </a:p>
                  </a:txBody>
                  <a:tcPr>
                    <a:solidFill>
                      <a:srgbClr val="FBEB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19.4%</a:t>
                      </a:r>
                    </a:p>
                  </a:txBody>
                  <a:tcPr>
                    <a:solidFill>
                      <a:srgbClr val="FBEB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5B1220"/>
                          </a:solidFill>
                          <a:latin typeface="DejaVu Sans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3,333 / 16,735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A4448"/>
                          </a:solidFill>
                          <a:latin typeface="DejaVu Sans"/>
                        </a:rPr>
                        <a:t>19.9%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571238"/>
            <a:ext cx="10515600" cy="12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A4448"/>
                </a:solidFill>
                <a:latin typeface="DejaVu Sans"/>
              </a:defRPr>
            </a:pPr>
            <a:r>
              <a:t>•  Thresholds and priority mapping are project settings, not owner-approved policy.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A4448"/>
                </a:solidFill>
                <a:latin typeface="DejaVu Sans"/>
              </a:defRPr>
            </a:pPr>
            <a:r>
              <a:t>•  Calendar wall-clock duration may not match the official SLA clock.</a:t>
            </a:r>
          </a:p>
          <a:p>
            <a:pPr>
              <a:lnSpc>
                <a:spcPct val="125000"/>
              </a:lnSpc>
              <a:spcAft>
                <a:spcPts val="0"/>
              </a:spcAft>
              <a:defRPr sz="1500" b="1">
                <a:solidFill>
                  <a:srgbClr val="C8102E"/>
                </a:solidFill>
                <a:latin typeface="DejaVu Sans"/>
              </a:defRPr>
            </a:pPr>
            <a:r>
              <a:t>Bottom line: roughly one ticket in five met its configured reference, consistently across priority levels.</a:t>
            </a:r>
          </a:p>
        </p:txBody>
      </p:sp>
      <p:sp>
        <p:nvSpPr>
          <p:cNvPr id="90" name="Rectangle Accent 90"/>
          <p:cNvSpPr/>
          <p:nvPr/>
        </p:nvSpPr>
        <p:spPr>
          <a:xfrm>
            <a:off x="621792" y="5324348"/>
            <a:ext cx="50292" cy="4762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A4448"/>
                </a:solidFill>
              </a:defRPr>
            </a:pPr>
            <a:r>
              <a:t>04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A4448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5B1220"/>
                </a:solidFill>
                <a:latin typeface="DejaVu Sans"/>
              </a:defRPr>
            </a:pPr>
            <a:r>
              <a:t>Month-ahead forecast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33261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30-day validation selected ETS (weekly additive) with MAE 4.39 tickets/day.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Later historical test: MAE 4.67, RMSE 7.20, WAPE 27.5%.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Validation-calibrated 90% interval covered 87.7% of test dates.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7-day comparison: XGBoost autoregression (28-day lags), test MAE 5.05 tickets/day.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A4448"/>
                </a:solidFill>
                <a:latin typeface="DejaVu Sans"/>
              </a:defRPr>
            </a:pPr>
            <a:r>
              <a:t>•  A month forecast is one estimate per day, not a guaranteed monthly total. These old results do not validate current demand.</a:t>
            </a:r>
          </a:p>
          <a:p>
            <a:pPr>
              <a:lnSpc>
                <a:spcPct val="125000"/>
              </a:lnSpc>
              <a:spcAft>
                <a:spcPts val="0"/>
              </a:spcAft>
              <a:defRPr sz="1500" b="1">
                <a:solidFill>
                  <a:srgbClr val="C8102E"/>
                </a:solidFill>
                <a:latin typeface="DejaVu Sans"/>
              </a:defRPr>
            </a:pPr>
            <a:r>
              <a:t>Bottom line: the selected model lands within a few tickets per day of actuals, but this is a historical result, not a live forecast.</a:t>
            </a:r>
          </a:p>
        </p:txBody>
      </p:sp>
      <p:sp>
        <p:nvSpPr>
          <p:cNvPr id="90" name="Rectangle Accent 90"/>
          <p:cNvSpPr/>
          <p:nvPr/>
        </p:nvSpPr>
        <p:spPr>
          <a:xfrm>
            <a:off x="621792" y="4340352"/>
            <a:ext cx="50292" cy="4762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A4448"/>
                </a:solidFill>
              </a:defRPr>
            </a:pPr>
            <a:r>
              <a:t>05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A4448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5B1220"/>
                </a:solidFill>
                <a:latin typeface="DejaVu Sans"/>
              </a:defRPr>
            </a:pPr>
            <a:r>
              <a:t>What the measures mean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2983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MAE: average daily count miss. RMSE: larger misses weigh more.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WAPE compares total misses to actual volume; sMAPE summarizes daily relative error.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Interval coverage shows how often the historical test landed inside estimated bounds.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Intervals and errors may change when source coverage or operations change.</a:t>
            </a:r>
          </a:p>
          <a:p>
            <a:pPr>
              <a:lnSpc>
                <a:spcPct val="125000"/>
              </a:lnSpc>
              <a:spcAft>
                <a:spcPts val="0"/>
              </a:spcAft>
              <a:defRPr sz="1500" b="1">
                <a:solidFill>
                  <a:srgbClr val="C8102E"/>
                </a:solidFill>
                <a:latin typeface="DejaVu Sans"/>
              </a:defRPr>
            </a:pPr>
            <a:r>
              <a:t>Bottom line: these numbers describe past accuracy only; they do not predict today's volume or guarantee future performance.</a:t>
            </a:r>
          </a:p>
        </p:txBody>
      </p:sp>
      <p:sp>
        <p:nvSpPr>
          <p:cNvPr id="90" name="Rectangle Accent 90"/>
          <p:cNvSpPr/>
          <p:nvPr/>
        </p:nvSpPr>
        <p:spPr>
          <a:xfrm>
            <a:off x="621792" y="3611880"/>
            <a:ext cx="50292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A4448"/>
                </a:solidFill>
              </a:defRPr>
            </a:pPr>
            <a:r>
              <a:t>06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A4448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5B1220"/>
                </a:solidFill>
                <a:latin typeface="DejaVu Sans"/>
              </a:defRPr>
            </a:pPr>
            <a:r>
              <a:t>What remains unknown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24117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Whether dates with no rows are fully covered zero-ticket days.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Whether the historical, masked-project data matches the target service today.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Whether the configured priority targets and time clock match approved SLA policy.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No staffing savings, avoided breach impact or ROI has been measured.</a:t>
            </a:r>
          </a:p>
          <a:p>
            <a:pPr>
              <a:lnSpc>
                <a:spcPct val="125000"/>
              </a:lnSpc>
              <a:spcAft>
                <a:spcPts val="0"/>
              </a:spcAft>
              <a:defRPr sz="1500" b="1">
                <a:solidFill>
                  <a:srgbClr val="C8102E"/>
                </a:solidFill>
                <a:latin typeface="DejaVu Sans"/>
              </a:defRPr>
            </a:pPr>
            <a:r>
              <a:t>Bottom line: completeness, policy approval and real-world ROI are still open questions before this can inform staffing decisions.</a:t>
            </a:r>
          </a:p>
        </p:txBody>
      </p:sp>
      <p:sp>
        <p:nvSpPr>
          <p:cNvPr id="90" name="Rectangle Accent 90"/>
          <p:cNvSpPr/>
          <p:nvPr/>
        </p:nvSpPr>
        <p:spPr>
          <a:xfrm>
            <a:off x="621792" y="3425951"/>
            <a:ext cx="50292" cy="4762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A4448"/>
                </a:solidFill>
              </a:defRPr>
            </a:pPr>
            <a:r>
              <a:t>07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A4448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5B1220"/>
                </a:solidFill>
                <a:latin typeface="DejaVu Sans"/>
              </a:defRPr>
            </a:pPr>
            <a:r>
              <a:t>Safe path forward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Resolve the mirror license label, source date-range mismatch and daily coverage.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Obtain service-owner approval for priority mapping, references and SLA clock.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Set forecast tolerances in advance and test on current, future-period data.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Pilot with human review; compare service outcomes and planner effort before estimating value.</a:t>
            </a:r>
          </a:p>
          <a:p>
            <a:pPr>
              <a:lnSpc>
                <a:spcPct val="125000"/>
              </a:lnSpc>
              <a:spcAft>
                <a:spcPts val="0"/>
              </a:spcAft>
              <a:defRPr sz="1500" b="1">
                <a:solidFill>
                  <a:srgbClr val="C8102E"/>
                </a:solidFill>
                <a:latin typeface="DejaVu Sans"/>
              </a:defRPr>
            </a:pPr>
            <a:r>
              <a:t>Bottom line: resolve data and policy gaps first, then pilot with human review before trusting the forecast operationally.</a:t>
            </a:r>
          </a:p>
        </p:txBody>
      </p:sp>
      <p:sp>
        <p:nvSpPr>
          <p:cNvPr id="90" name="Rectangle Accent 90"/>
          <p:cNvSpPr/>
          <p:nvPr/>
        </p:nvSpPr>
        <p:spPr>
          <a:xfrm>
            <a:off x="621792" y="3711702"/>
            <a:ext cx="50292" cy="4762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A4448"/>
                </a:solidFill>
              </a:defRPr>
            </a:pPr>
            <a:r>
              <a:t>08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A4448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5B1220"/>
                </a:solidFill>
                <a:latin typeface="DejaVu Sans"/>
              </a:defRPr>
            </a:pPr>
            <a:r>
              <a:t>Proof of work: a working prototype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4183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This is not only analysis on paper: the selected forecast model is packaged and runnable today.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A small web service (FastAPI) can return a forecast on request, showing the model works end to end.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Every run is logged (model choice, accuracy numbers) so results can be traced and reproduced later.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A4448"/>
                </a:solidFill>
                <a:latin typeface="DejaVu Sans"/>
              </a:defRPr>
            </a:pPr>
            <a:r>
              <a:t>•  A ready to use Power BI folder holds both the SLA report and the volume forecast data, plus sample report screenshots, so a planner can see what the finished dashboard would look like.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None of this is a live production system yet; it is evidence the idea is technically workable and reviewable.</a:t>
            </a:r>
          </a:p>
          <a:p>
            <a:pPr>
              <a:lnSpc>
                <a:spcPct val="125000"/>
              </a:lnSpc>
              <a:spcAft>
                <a:spcPts val="0"/>
              </a:spcAft>
              <a:defRPr sz="1500" b="1">
                <a:solidFill>
                  <a:srgbClr val="C8102E"/>
                </a:solidFill>
                <a:latin typeface="DejaVu Sans"/>
              </a:defRPr>
            </a:pPr>
            <a:r>
              <a:t>Bottom line: the model already runs end to end as a demo, but it is not yet a production staffing tool.</a:t>
            </a:r>
          </a:p>
        </p:txBody>
      </p:sp>
      <p:sp>
        <p:nvSpPr>
          <p:cNvPr id="90" name="Rectangle Accent 90"/>
          <p:cNvSpPr/>
          <p:nvPr/>
        </p:nvSpPr>
        <p:spPr>
          <a:xfrm>
            <a:off x="621792" y="5687568"/>
            <a:ext cx="50292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A4448"/>
                </a:solidFill>
              </a:defRPr>
            </a:pPr>
            <a:r>
              <a:t>09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A4448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5B1220"/>
                </a:solidFill>
                <a:latin typeface="DejaVu Sans"/>
              </a:defRPr>
            </a:pPr>
            <a:r>
              <a:t>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1973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Use this as an improved historical analysis and forecast prototype.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Do not automate SLA enforcement or staffing decisions from this evidence.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A4448"/>
                </a:solidFill>
                <a:latin typeface="DejaVu Sans"/>
              </a:defRPr>
            </a:pPr>
            <a:r>
              <a:t>•  Proceed only after data, policy and current-period validation.</a:t>
            </a:r>
          </a:p>
          <a:p>
            <a:pPr>
              <a:lnSpc>
                <a:spcPct val="125000"/>
              </a:lnSpc>
              <a:spcAft>
                <a:spcPts val="0"/>
              </a:spcAft>
              <a:defRPr sz="1500" b="1">
                <a:solidFill>
                  <a:srgbClr val="C8102E"/>
                </a:solidFill>
                <a:latin typeface="DejaVu Sans"/>
              </a:defRPr>
            </a:pPr>
            <a:r>
              <a:t>Bottom line: treat this as a validated historical prototype and evidence base, not an automated staffing or SLA-enforcement system.</a:t>
            </a:r>
          </a:p>
        </p:txBody>
      </p:sp>
      <p:sp>
        <p:nvSpPr>
          <p:cNvPr id="90" name="Rectangle Accent 90"/>
          <p:cNvSpPr/>
          <p:nvPr/>
        </p:nvSpPr>
        <p:spPr>
          <a:xfrm>
            <a:off x="621792" y="2987802"/>
            <a:ext cx="50292" cy="4762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A4448"/>
                </a:solidFill>
              </a:defRPr>
            </a:pPr>
            <a: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A4448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990</Words>
  <Application>Microsoft Office PowerPoint</Application>
  <PresentationFormat>Widescreen</PresentationFormat>
  <Paragraphs>102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DejaVu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Bitor, Ana Jane C.</cp:lastModifiedBy>
  <cp:revision>2</cp:revision>
  <dcterms:created xsi:type="dcterms:W3CDTF">2013-01-27T09:14:16Z</dcterms:created>
  <dcterms:modified xsi:type="dcterms:W3CDTF">2026-10-02T08:48:44Z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8fd6ad0-aa89-48a4-baf8-39a87521f7bb_Enabled">
    <vt:lpwstr>true</vt:lpwstr>
  </property>
  <property fmtid="{D5CDD505-2E9C-101B-9397-08002B2CF9AE}" pid="3" name="MSIP_Label_f8fd6ad0-aa89-48a4-baf8-39a87521f7bb_SetDate">
    <vt:lpwstr>2026-10-02T08:44:00Z</vt:lpwstr>
  </property>
  <property fmtid="{D5CDD505-2E9C-101B-9397-08002B2CF9AE}" pid="4" name="MSIP_Label_f8fd6ad0-aa89-48a4-baf8-39a87521f7bb_Method">
    <vt:lpwstr>Privileged</vt:lpwstr>
  </property>
  <property fmtid="{D5CDD505-2E9C-101B-9397-08002B2CF9AE}" pid="5" name="MSIP_Label_f8fd6ad0-aa89-48a4-baf8-39a87521f7bb_Name">
    <vt:lpwstr>f8fd6ad0-aa89-48a4-baf8-39a87521f7bb</vt:lpwstr>
  </property>
  <property fmtid="{D5CDD505-2E9C-101B-9397-08002B2CF9AE}" pid="6" name="MSIP_Label_f8fd6ad0-aa89-48a4-baf8-39a87521f7bb_SiteId">
    <vt:lpwstr>8a526632-57dd-46c8-94e3-473cb3d70348</vt:lpwstr>
  </property>
  <property fmtid="{D5CDD505-2E9C-101B-9397-08002B2CF9AE}" pid="7" name="MSIP_Label_f8fd6ad0-aa89-48a4-baf8-39a87521f7bb_ActionId">
    <vt:lpwstr>af8beee6-64da-4ee0-a525-75fd9d3d2d24</vt:lpwstr>
  </property>
  <property fmtid="{D5CDD505-2E9C-101B-9397-08002B2CF9AE}" pid="8" name="MSIP_Label_f8fd6ad0-aa89-48a4-baf8-39a87521f7bb_ContentBits">
    <vt:lpwstr>0</vt:lpwstr>
  </property>
  <property fmtid="{D5CDD505-2E9C-101B-9397-08002B2CF9AE}" pid="9" name="MSIP_Label_f8fd6ad0-aa89-48a4-baf8-39a87521f7bb_Tag">
    <vt:lpwstr>10, 0, 1, 1</vt:lpwstr>
  </property>
</Properties>
</file>