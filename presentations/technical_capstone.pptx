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4000" b="1">
                <a:solidFill>
                  <a:srgbClr val="FFFFFF"/>
                </a:solidFill>
                <a:latin typeface="DejaVu Sans"/>
              </a:defRPr>
            </a:pPr>
            <a:r>
              <a:t>Help Desk Ticket SLA and Volume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48840"/>
            <a:ext cx="14630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058400" cy="213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F2D7DA"/>
                </a:solidFill>
                <a:latin typeface="DejaVu Sans"/>
              </a:defRPr>
            </a:pPr>
            <a:r>
              <a:t>Technical capstone: retrospective resolution/SLA-reference analysis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F2D7DA"/>
                </a:solidFill>
                <a:latin typeface="DejaVu Sans"/>
              </a:defRPr>
            </a:pPr>
            <a:r>
              <a:t>Core prediction: daily Ticket-arrival forecasts for the next week and month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F2D7DA"/>
                </a:solidFill>
                <a:latin typeface="DejaVu Sans"/>
              </a:defRPr>
            </a:pPr>
            <a:r>
              <a:t>Historical experiment, not operational approval or current performance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A7AE"/>
                </a:solidFill>
                <a:latin typeface="DejaVu Sans"/>
              </a:defRPr>
            </a:pPr>
            <a:r>
              <a:t>TECHNICAL CAPSTONE  |  SERVICE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9AA2"/>
                </a:solidFill>
                <a:latin typeface="DejaVu Sans"/>
              </a:defRPr>
            </a:pPr>
            <a:r>
              <a:t>Historical analysis of 27,348 scoped tickets  |  2016-2023  |  12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Problem framing and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55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Retrospective: compare elapsed resolution time with configured priority references.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Predictive: count exact Ticket-type issues created per UTC day; evaluate 7- and 30-day paths.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Primary metrics: reference attainment by priority; forecast MAE/RMSE, WAPE/sMAPE and interval coverage.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No live alert is defined. SLA references are project-configured assumptions, not verified policy.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this work measures historical SLA-reference attainment and daily ticket arrivals — no live alerting is in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Source, scope and data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Identity: Kaggle v1 bytes and Mendeley v2 digest match. Original CC BY 4.0 conflicts with Kaggle's CC0 label.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66,691 issue rows, 58 fields; exact Ticket type is the analysis cohort.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27,348 scoped Ticket records, 2016-01-03 to 2023-03-14 UTC.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A4448"/>
                </a:solidFill>
                <a:latin typeface="DejaVu Sans"/>
              </a:defRPr>
            </a:pPr>
            <a:r>
              <a:t>•  Documentation states 2016 to March 2023, but the file contains pre-2016 timestamps; earlier rows are profiled and excluded.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344/2,628 dates have no Ticket rows; treated as zero under unverified coverage assumption.</a:t>
            </a:r>
          </a:p>
        </p:txBody>
      </p:sp>
      <p:pic>
        <p:nvPicPr>
          <p:cNvPr id="6" name="Picture 5" descr="notebook02_month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3272917"/>
            <a:ext cx="6766560" cy="1954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64861"/>
            <a:ext cx="10515600" cy="96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Monthly created-Ticket counts (notebook 02, EDA): volume varies across months and thins out in later years.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one well-documented cohort of 27,348 tickets underpins every result, with licensing and coverage caveats stated up front.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Retrospective reference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Reference attainment by priority (exact Ticket type, 2016+, Done resolution, mapped priority, valid nonnegative duration):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93442"/>
          <a:ext cx="105156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Priority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Reference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Met / Assessed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Attainment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524 / 2,124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High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8h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576 / 3,146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18.3%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72 / 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Medium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2,161 / 11,161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19.4%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3,333 / 16,735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19.9%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761738"/>
            <a:ext cx="10515600" cy="155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Blocker/Highest mapped to Critical 4h; High 8h; Medium 24h; Low/Lowest 24h; unknown excluded.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A4448"/>
                </a:solidFill>
                <a:latin typeface="DejaVu Sans"/>
              </a:defRPr>
            </a:pPr>
            <a:r>
              <a:t>•  Duration is UTC wall-clock time from issue_created to issue_resolution_date; business-hour calendars and pause rules are not verified.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Results are reference comparisons, not contractual compliance or live warnings.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only about one ticket in five met its priority reference, and the shortfall is consistent across every priority band.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Key numerical measures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81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Selected forecast model performance on the later, untouched historical test split, by horizon: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88692"/>
          <a:ext cx="10515595" cy="150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191"/>
                <a:gridCol w="3105277"/>
                <a:gridCol w="1199766"/>
                <a:gridCol w="1199766"/>
                <a:gridCol w="1199766"/>
                <a:gridCol w="1270340"/>
                <a:gridCol w="1411489"/>
              </a:tblGrid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Horizon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Selected model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MAE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RMSE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WAPE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sMAPE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90% coverage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7-day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XGBoost autoregression (28-day lags)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7.72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86.6%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30-day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ETS (weekly additive)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4.67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7.20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27.5%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41.3%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87.7%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130548"/>
            <a:ext cx="10515600" cy="2097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Data scale: 66,691 source rows; 27,348 scoped Ticket records; 2,628 calendar days (2016-01-03 to 2023-03-14).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344 dates (13.1%) have no Ticket rows, treated as zero under an unverified coverage assumption.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Retrospective reference attainment overall: 3,333 / 16,735 assessed tickets (19.9%).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Feature reduction: 10/34 training-only MI-selected features; PCA used 26 components for 95% of target-related variance.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both horizons land within roughly five tickets per day of actuals, at ~87% interval coverage against a 90%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Process flow: source to decks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81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Eight notebooks, one canonical output/issue_helpdesk/ folder, then decks/report/app read from it:</a:t>
            </a:r>
          </a:p>
        </p:txBody>
      </p:sp>
      <p:pic>
        <p:nvPicPr>
          <p:cNvPr id="6" name="Picture 5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679" y="2488692"/>
            <a:ext cx="5466337" cy="27438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69686"/>
            <a:ext cx="10515600" cy="96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Full step-by-step mapping with exact function and file names: docs/process_flow.md.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a single reproducible pipeline feeds the decks, report and app from one canonical output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Seven-day and month-ahead forecast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83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Target: daily counts of exact Ticket records; UTC calendar.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Separate 7- and 30-day expanding-window forecasts; the month horizon predicts daily counts, not one monthly total.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30-day experiment: 48 validation origins; 48 later test origins.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Compared seasonal naive, additive weekly ETS, XGBoost autoregression, and MI-selected/PCA Ridge.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Validation MAE selects a model separately for each horizon; test remains separate.</a:t>
            </a:r>
          </a:p>
        </p:txBody>
      </p:sp>
      <p:pic>
        <p:nvPicPr>
          <p:cNvPr id="6" name="Picture 5" descr="notebook03_lead_tim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794" y="3511041"/>
            <a:ext cx="5074106" cy="15786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26811"/>
            <a:ext cx="10515600" cy="110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A4448"/>
                </a:solidFill>
                <a:latin typeface="DejaVu Sans"/>
              </a:defRPr>
            </a:pPr>
            <a:r>
              <a:t>•  30-day final-test MAE by lead-time band (notebook 03): error typically grows with lead time, one reason a 7-day path is tracked separately.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separate 7- and 30-day backtests, selected on validation only, keep the reported test results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Candidate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52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30-day validation winner: ETS (weekly additive) (MAE 4.39 tickets/day).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02942"/>
          <a:ext cx="10515600" cy="237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Model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Validation MAE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Validation RMSE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MAE</a:t>
                      </a:r>
                    </a:p>
                  </a:txBody>
                  <a:tcPr>
                    <a:solidFill>
                      <a:srgbClr val="5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ETS (weekly additive)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6.09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XGBoost autoregression (28-day lags)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4.68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6.71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5.42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Ridge (MI-selected features + 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6.86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5B1220"/>
                          </a:solidFill>
                          <a:latin typeface="DejaVu Sans"/>
                        </a:rPr>
                        <a:t>Seasonal naive (same weekday last week)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5.41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7.80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A4448"/>
                          </a:solidFill>
                          <a:latin typeface="DejaVu Sans"/>
                        </a:rPr>
                        <a:t>6.49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716018"/>
            <a:ext cx="10515600" cy="148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30-day selected-model test MAE 4.67, RMSE 7.20, WAPE 27.5%, sMAPE 41.3%.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7-day comparison: XGBoost autoregression (28-day lags), test MAE 5.05 tickets/day (its own validation-selected model).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ETS wins the 30-day horizon and XGBoost the 7-day — both clearly beat the seasonal-naive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Uncertainty and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MAE is the typical daily miss; RMSE emphasizes larger errors. WAPE/sMAPE express relative error.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A4448"/>
                </a:solidFill>
                <a:latin typeface="DejaVu Sans"/>
              </a:defRPr>
            </a:pPr>
            <a:r>
              <a:t>•  Selected-model 90% test interval coverage: 87.7%; calibrated on validation residuals.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A4448"/>
                </a:solidFill>
                <a:latin typeface="DejaVu Sans"/>
              </a:defRPr>
            </a:pPr>
            <a:r>
              <a:t>•  Panel: XGBoost SHAP, not ETS. Separate ETS state/residual evidence is linked in the report; fitted residuals are not test errors.</a:t>
            </a:r>
          </a:p>
        </p:txBody>
      </p:sp>
      <p:pic>
        <p:nvPicPr>
          <p:cNvPr id="6" name="Picture 5" descr="notebook04_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656967"/>
            <a:ext cx="8229600" cy="1995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789181"/>
            <a:ext cx="10515600" cy="110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A4448"/>
                </a:solidFill>
                <a:latin typeface="DejaVu Sans"/>
              </a:defRPr>
            </a:pPr>
            <a:r>
              <a:t>•  Leading XGBoost validation features: lag_21, lag_28, lag_14. Validation-only SHAP highlights: lag_28, lag_21, lag_14; importance is association, not causation. Feature selection kept 10/34 MI-selected features.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errors are explainable and intervals are calibrated, but feature importance signals association, not causation.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Ethics and fairness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No approved protected demographic attributes: protected-group fairness cannot be assessed.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Priority attainment uses priority-specific reference values; group rates need contextual interpretation.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One aggregate forecast series cannot test allocation fairness across queue, site or shift.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Small masked-project groups should not be ranked; retain human review and investigate persistent under-forecasting.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Missing demographics, measured ROI or production are not automatic academic failures; explicit rubric requirements still apply.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fairness cannot be verified without protected attributes, so human review stays in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Deployment, MLOps and Power BI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413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Selected model persisted and served via a FastAPI POC (src/app.py); MLflow run 269964acc543 logs the same parameters and metrics for reproducibility.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MLflow experiment 'helpdesk_volume_forecast': validation MAE 4.39, test MAE 4.67.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Power BI ready export folder (fact_tickets_sla.csv, 4 report pages, 4 rendered sample screenshots) covers both the after the fact SLA report and the volume forecast, rebuilt from source data on every run so it scales to a larger dataset.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Power BI Desktop is not installed in this environment, so the screenshots are rendered stand ins from the same export tables, not native .pbix captures.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Monitoring plan defines retrain triggers (schedule, drift, new source coverage) before any of this becomes an operational service.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the model is reproducible and demo-ready, while the Power BI evidence and monitoring remain proof-of-concept.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5B1220"/>
                </a:solidFill>
                <a:latin typeface="DejaVu Sans"/>
              </a:defRPr>
            </a:pPr>
            <a:r>
              <a:t>Integration readiness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45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A4448"/>
                </a:solidFill>
                <a:latin typeface="DejaVu Sans"/>
              </a:defRPr>
            </a:pPr>
            <a:r>
              <a:t>•  Ready locally: data profile, cohort rules, rolling backtest, validation selection, error/interval outputs and monitoring plan.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Not ready: verified coverage, current arrivals, approved SLA rules, segmented forecasts or production integration.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Next: confirm source range/zero days and policy; test on current future data against the seasonal baseline.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A4448"/>
                </a:solidFill>
                <a:latin typeface="DejaVu Sans"/>
              </a:defRPr>
            </a:pPr>
            <a:r>
              <a:t>•  Conclusion: stronger historical prototype, not an operationally validated staffing or compliance system.</a:t>
            </a:r>
          </a:p>
          <a:p>
            <a:pPr>
              <a:lnSpc>
                <a:spcPct val="125000"/>
              </a:lnSpc>
              <a:spcAft>
                <a:spcPts val="0"/>
              </a:spcAft>
              <a:defRPr sz="1500" b="1">
                <a:solidFill>
                  <a:srgbClr val="C8102E"/>
                </a:solidFill>
                <a:latin typeface="DejaVu Sans"/>
              </a:defRPr>
            </a:pPr>
            <a:r>
              <a:t>Bottom line: a credible historical prototype — operational validation is the next step, not a claim made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448"/>
                </a:solidFill>
              </a:defRPr>
            </a:pPr>
            <a: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A4448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