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7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4000" b="1">
                <a:solidFill>
                  <a:srgbClr val="FFFFFF"/>
                </a:solidFill>
                <a:latin typeface="DejaVu Sans"/>
              </a:defRPr>
            </a:pPr>
            <a:r>
              <a:t>Help Desk Ticket SLA and Volume Forecasting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2148840"/>
            <a:ext cx="1463040" cy="73152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86200"/>
            <a:ext cx="10058400" cy="213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D6E2ED"/>
                </a:solidFill>
                <a:latin typeface="DejaVu Sans"/>
              </a:defRPr>
            </a:pPr>
            <a:r>
              <a:t>Technical capstone: retrospective resolution/SLA-reference analysis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D6E2ED"/>
                </a:solidFill>
                <a:latin typeface="DejaVu Sans"/>
              </a:defRPr>
            </a:pPr>
            <a:r>
              <a:t>Core prediction: daily Ticket-arrival forecasts for the next week and month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D6E2ED"/>
                </a:solidFill>
                <a:latin typeface="DejaVu Sans"/>
              </a:defRPr>
            </a:pPr>
            <a:r>
              <a:t>Historical experiment, not operational approval or current performance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Problem framing and 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298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Retrospective: compare elapsed resolution time with configured priority references.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Predictive: count exact Ticket-type issues created per UTC day; evaluate 7- and 30-day paths.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Primary metrics: reference attainment by priority; forecast MAE/RMSE, WAPE/sMAPE and interval coverage.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No live alert is defined. SLA references are project-configured assumptions, not verified policy.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02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Source, scope and data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Identity: Kaggle v1 bytes and Mendeley v2 digest match. Original CC BY 4.0 conflicts with Kaggle's CC0 label.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66,691 issue rows, 58 fields; exact Ticket type is the analysis cohort.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27,348 scoped Ticket records, 2016-01-03 to 2023-03-14 UTC.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100">
                <a:solidFill>
                  <a:srgbClr val="4B545D"/>
                </a:solidFill>
                <a:latin typeface="DejaVu Sans"/>
              </a:defRPr>
            </a:pPr>
            <a:r>
              <a:t>•  Documentation states 2016 to March 2023, but the file contains pre-2016 timestamps; earlier rows are profiled and excluded.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344/2,628 dates have no Ticket rows; treated as zero under unverified coverage assumption.</a:t>
            </a:r>
          </a:p>
        </p:txBody>
      </p:sp>
      <p:pic>
        <p:nvPicPr>
          <p:cNvPr id="6" name="Picture 5" descr="notebook02_monthl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567" y="3272917"/>
            <a:ext cx="6766560" cy="19547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364861"/>
            <a:ext cx="10515600" cy="399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Monthly created-Ticket counts (notebook 02, EDA): volume varies across months and thins out in later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03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Retrospective reference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4B545D"/>
                </a:solidFill>
                <a:latin typeface="DejaVu Sans"/>
              </a:defRPr>
            </a:pPr>
            <a:r>
              <a:t>•  Reference attainment by priority (exact Ticket type, 2016+, Done resolution, mapped priority, valid nonnegative duration):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393442"/>
          <a:ext cx="10515600" cy="2761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6024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Priority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Reference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Met / Assessed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Attainment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</a:tr>
              <a:tr h="46024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1F3752"/>
                          </a:solidFill>
                          <a:latin typeface="DejaVu Sans"/>
                        </a:rP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524 / 2,124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24.7%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024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1F3752"/>
                          </a:solidFill>
                          <a:latin typeface="DejaVu Sans"/>
                        </a:rPr>
                        <a:t>High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8h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576 / 3,146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18.3%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  <a:tr h="46024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1F3752"/>
                          </a:solidFill>
                          <a:latin typeface="DejaVu Sans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24h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72 / 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024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1F3752"/>
                          </a:solidFill>
                          <a:latin typeface="DejaVu Sans"/>
                        </a:rPr>
                        <a:t>Medium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24h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2,161 / 11,161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19.4%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  <a:tr h="46024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1F3752"/>
                          </a:solidFill>
                          <a:latin typeface="DejaVu Sans"/>
                        </a:rPr>
                        <a:t>Overall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3,333 / 16,735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19.9%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292084"/>
            <a:ext cx="105156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Blocker/Highest mapped to Critical 4h; High 8h; Medium 24h; Low/Lowest 24h; unknown excluded.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100">
                <a:solidFill>
                  <a:srgbClr val="4B545D"/>
                </a:solidFill>
                <a:latin typeface="DejaVu Sans"/>
              </a:defRPr>
            </a:pPr>
            <a:r>
              <a:t>•  Duration is UTC wall-clock time from issue_created to issue_resolution_date; business-hour calendars and pause rules are not verified.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Results are reference comparisons, not contractual compliance or live warnings.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04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Key numerical measures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815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Selected forecast model performance on the later, untouched historical test split, by horizon: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488692"/>
          <a:ext cx="10515596" cy="2053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/>
                <a:gridCol w="1502228"/>
                <a:gridCol w="1502228"/>
                <a:gridCol w="1502228"/>
                <a:gridCol w="1502228"/>
                <a:gridCol w="1502228"/>
                <a:gridCol w="1502228"/>
              </a:tblGrid>
              <a:tr h="536448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Horizon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Selected model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Test MAE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Test RMSE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Test WAPE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Test sMAPE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90% coverage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</a:tr>
              <a:tr h="98044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1F3752"/>
                          </a:solidFill>
                          <a:latin typeface="DejaVu Sans"/>
                        </a:rPr>
                        <a:t>7-day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XGBoost autoregression (28-day lags)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5.05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7.72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30.4%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49.0%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86.6%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6448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1F3752"/>
                          </a:solidFill>
                          <a:latin typeface="DejaVu Sans"/>
                        </a:rPr>
                        <a:t>30-day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ETS (weekly additive)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4.67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7.20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27.5%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41.3%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87.7%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679188"/>
            <a:ext cx="10515600" cy="152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Data scale: 66,691 source rows; 27,348 scoped Ticket records; 2,628 calendar days (2016-01-03 to 2023-03-14).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344 dates (13.1%) have no Ticket rows, treated as zero under an unverified coverage assumption.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Retrospective reference attainment overall: 3,333 / 16,735 assessed tickets (19.9%).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Feature reduction: 10/34 training-only MI-selected features; PCA used 26 components for 95% of target-related variance.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05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Process flow: source to decks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815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Eight notebooks, one canonical output/issue_helpdesk/ folder, then decks/report/app read from it:</a:t>
            </a:r>
          </a:p>
        </p:txBody>
      </p:sp>
      <p:pic>
        <p:nvPicPr>
          <p:cNvPr id="6" name="Picture 5" descr="process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195" y="2488692"/>
            <a:ext cx="6597304" cy="33115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937376"/>
            <a:ext cx="10515600" cy="399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Full step-by-step mapping with exact function and file names: docs/process_flow.md.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06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Seven-day and month-ahead forecast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1837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Target: daily counts of exact Ticket records; UTC calendar.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Separate 7- and 30-day expanding-window forecasts; the month horizon predicts daily counts, not one monthly total.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30-day experiment: 48 validation origins; 48 later test origins.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Compared seasonal naive, additive weekly ETS, XGBoost autoregression, and MI-selected/PCA Ridge.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Validation MAE selects a model separately for each horizon; test remains separate.</a:t>
            </a:r>
          </a:p>
        </p:txBody>
      </p:sp>
      <p:pic>
        <p:nvPicPr>
          <p:cNvPr id="6" name="Picture 5" descr="notebook03_lead_time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567" y="3511041"/>
            <a:ext cx="6766560" cy="2105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753353"/>
            <a:ext cx="10515600" cy="542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100">
                <a:solidFill>
                  <a:srgbClr val="4B545D"/>
                </a:solidFill>
                <a:latin typeface="DejaVu Sans"/>
              </a:defRPr>
            </a:pPr>
            <a:r>
              <a:t>•  30-day final-test MAE by lead-time band (notebook 03): error typically grows with lead time, one reason a 7-day path is tracked separately.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07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Candidate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529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30-day validation winner: ETS (weekly additive) (MAE 4.39 tickets/day).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202942"/>
          <a:ext cx="10515600" cy="2558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Model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Validation MAE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Validation RMSE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Test MAE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1F3752"/>
                          </a:solidFill>
                          <a:latin typeface="DejaVu Sans"/>
                        </a:rPr>
                        <a:t>ETS (weekly additive)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4.39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6.09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4.67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94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1F3752"/>
                          </a:solidFill>
                          <a:latin typeface="DejaVu Sans"/>
                        </a:rPr>
                        <a:t>XGBoost autoregression (28-day lags)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4.68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6.71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5.42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  <a:tr h="53594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1F3752"/>
                          </a:solidFill>
                          <a:latin typeface="DejaVu Sans"/>
                        </a:rPr>
                        <a:t>Ridge (MI-selected features + PCA)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4.78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6.86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5.45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94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1F3752"/>
                          </a:solidFill>
                          <a:latin typeface="DejaVu Sans"/>
                        </a:rPr>
                        <a:t>Seasonal naive (same weekday last week)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5.41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7.80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6.49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898898"/>
            <a:ext cx="10515600" cy="913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30-day selected-model test MAE 4.67, RMSE 7.20, WAPE 27.5%, sMAPE 41.3%.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7-day comparison: XGBoost autoregression (28-day lags), test MAE 5.05 tickets/day (its own validation-selected model).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08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Uncertainty and 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MAE is the typical daily miss; RMSE emphasizes larger errors. WAPE/sMAPE express relative error.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Selected-model 90% test interval coverage: 87.7%; calibrated on validation residuals.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100">
                <a:solidFill>
                  <a:srgbClr val="4B545D"/>
                </a:solidFill>
                <a:latin typeface="DejaVu Sans"/>
              </a:defRPr>
            </a:pPr>
            <a:r>
              <a:t>•  Panel: XGBoost SHAP, not ETS. Separate ETS state/residual evidence is linked in the report; fitted residuals are not test errors.</a:t>
            </a:r>
          </a:p>
        </p:txBody>
      </p:sp>
      <p:pic>
        <p:nvPicPr>
          <p:cNvPr id="6" name="Picture 5" descr="notebook04_explai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2656967"/>
            <a:ext cx="8229600" cy="19950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789181"/>
            <a:ext cx="10515600" cy="542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100">
                <a:solidFill>
                  <a:srgbClr val="4B545D"/>
                </a:solidFill>
                <a:latin typeface="DejaVu Sans"/>
              </a:defRPr>
            </a:pPr>
            <a:r>
              <a:t>•  Leading XGBoost validation features: lag_21, lag_28, lag_14. Validation-only SHAP highlights: lag_28, lag_21, lag_14; importance is association, not causation. Feature selection kept 10/34 MI-selected features.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09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Ethics and fairness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361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No approved protected demographic attributes: protected-group fairness cannot be assessed.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Priority attainment uses priority-specific reference values; group rates need contextual interpretation.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One aggregate forecast series cannot test allocation fairness across queue, site or shift.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Small masked-project groups should not be ranked; retain human review and investigate persistent under-forecasting.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4B545D"/>
                </a:solidFill>
                <a:latin typeface="DejaVu Sans"/>
              </a:defRPr>
            </a:pPr>
            <a:r>
              <a:t>•  Missing demographics, measured ROI or production are not automatic academic failures; explicit rubric requirements still apply.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Deployment, MLOps and Power BI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356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4B545D"/>
                </a:solidFill>
                <a:latin typeface="DejaVu Sans"/>
              </a:defRPr>
            </a:pPr>
            <a:r>
              <a:t>•  Selected model persisted and served via a FastAPI POC (src/app.py); MLflow run 269964acc543 logs the same parameters and metrics for reproducibility.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MLflow experiment 'helpdesk_volume_forecast': validation MAE 4.39, test MAE 4.67.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4B545D"/>
                </a:solidFill>
                <a:latin typeface="DejaVu Sans"/>
              </a:defRPr>
            </a:pPr>
            <a:r>
              <a:t>•  Power BI ready export folder (fact_tickets_sla.csv, 4 report pages, 4 rendered sample screenshots) covers both the after the fact SLA report and the volume forecast, rebuilt from source data on every run so it scales to a larger dataset.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4B545D"/>
                </a:solidFill>
                <a:latin typeface="DejaVu Sans"/>
              </a:defRPr>
            </a:pPr>
            <a:r>
              <a:t>•  Power BI Desktop is not installed in this environment, so the screenshots are rendered stand ins from the same export tables, not native .pbix captures.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4B545D"/>
                </a:solidFill>
                <a:latin typeface="DejaVu Sans"/>
              </a:defRPr>
            </a:pPr>
            <a:r>
              <a:t>•  Monitoring plan defines retrain triggers (schedule, drift, new source coverage) before any of this becomes an operational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Integration readiness and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2891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4B545D"/>
                </a:solidFill>
                <a:latin typeface="DejaVu Sans"/>
              </a:defRPr>
            </a:pPr>
            <a:r>
              <a:t>•  Ready locally: data profile, cohort rules, rolling backtest, validation selection, error/interval outputs and monitoring plan.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Not ready: verified coverage, current arrivals, approved SLA rules, segmented forecasts or production integration.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Next: confirm source range/zero days and policy; test on current future data against the seasonal baseline.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Conclusion: stronger historical prototype, not an operationally validated staffing or compliance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