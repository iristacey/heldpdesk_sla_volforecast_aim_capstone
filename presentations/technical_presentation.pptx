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82" y="4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7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ide Accent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868680" y="960120"/>
            <a:ext cx="1005840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400" b="1" spc="200" dirty="0">
                <a:solidFill>
                  <a:srgbClr val="8CC4F2"/>
                </a:solidFill>
                <a:latin typeface="DejaVu Sans"/>
              </a:rPr>
              <a:t>HELP DESK ANALYTICS  |  TECHNICAL CAPSTONE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463040"/>
            <a:ext cx="1463040" cy="73152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822960" y="1600200"/>
            <a:ext cx="10515600" cy="1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US" sz="4400" b="1" dirty="0">
                <a:solidFill>
                  <a:srgbClr val="FFFFFF"/>
                </a:solidFill>
                <a:latin typeface="DejaVu Sans"/>
              </a:rPr>
              <a:t>Help Desk Ticket SLA and Volume Forecasting</a:t>
            </a:r>
          </a:p>
        </p:txBody>
      </p:sp>
      <p:sp>
        <p:nvSpPr>
          <p:cNvPr id="20" name="Card 1"/>
          <p:cNvSpPr/>
          <p:nvPr/>
        </p:nvSpPr>
        <p:spPr>
          <a:xfrm>
            <a:off x="868680" y="37490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28476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ard 1 Accent"/>
          <p:cNvSpPr/>
          <p:nvPr/>
        </p:nvSpPr>
        <p:spPr>
          <a:xfrm>
            <a:off x="868680" y="3749040"/>
            <a:ext cx="3291840" cy="64008"/>
          </a:xfrm>
          <a:prstGeom prst="rect">
            <a:avLst/>
          </a:prstGeom>
          <a:solidFill>
            <a:srgbClr val="8CC4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Card 1 Text"/>
          <p:cNvSpPr txBox="1"/>
          <p:nvPr/>
        </p:nvSpPr>
        <p:spPr>
          <a:xfrm>
            <a:off x="868680" y="3813048"/>
            <a:ext cx="3291840" cy="1673352"/>
          </a:xfrm>
          <a:prstGeom prst="rect">
            <a:avLst/>
          </a:prstGeom>
          <a:noFill/>
        </p:spPr>
        <p:txBody>
          <a:bodyPr wrap="square" lIns="228600" tIns="228600" rIns="228600" bIns="182880"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200" b="1" spc="150" dirty="0">
                <a:solidFill>
                  <a:srgbClr val="8CC4F2"/>
                </a:solidFill>
                <a:latin typeface="DejaVu Sans"/>
              </a:rPr>
              <a:t>TECHNICAL CAPSTONE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1600" b="0" dirty="0">
                <a:solidFill>
                  <a:srgbClr val="FFFFFF"/>
                </a:solidFill>
                <a:latin typeface="DejaVu Sans"/>
              </a:rPr>
              <a:t>Retrospective resolution/SLA-reference analysis</a:t>
            </a:r>
          </a:p>
        </p:txBody>
      </p:sp>
      <p:sp>
        <p:nvSpPr>
          <p:cNvPr id="23" name="Card 2"/>
          <p:cNvSpPr/>
          <p:nvPr/>
        </p:nvSpPr>
        <p:spPr>
          <a:xfrm>
            <a:off x="4389120" y="37490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28476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ard 2 Accent"/>
          <p:cNvSpPr/>
          <p:nvPr/>
        </p:nvSpPr>
        <p:spPr>
          <a:xfrm>
            <a:off x="4389120" y="3749040"/>
            <a:ext cx="3291840" cy="64008"/>
          </a:xfrm>
          <a:prstGeom prst="rect">
            <a:avLst/>
          </a:prstGeom>
          <a:solidFill>
            <a:srgbClr val="8CC4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 2 Text"/>
          <p:cNvSpPr txBox="1"/>
          <p:nvPr/>
        </p:nvSpPr>
        <p:spPr>
          <a:xfrm>
            <a:off x="4389120" y="3813048"/>
            <a:ext cx="3291840" cy="1673352"/>
          </a:xfrm>
          <a:prstGeom prst="rect">
            <a:avLst/>
          </a:prstGeom>
          <a:noFill/>
        </p:spPr>
        <p:txBody>
          <a:bodyPr wrap="square" lIns="228600" tIns="228600" rIns="228600" bIns="182880"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200" b="1" spc="150" dirty="0">
                <a:solidFill>
                  <a:srgbClr val="8CC4F2"/>
                </a:solidFill>
                <a:latin typeface="DejaVu Sans"/>
              </a:rPr>
              <a:t>CORE PREDICTION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1600" b="0" dirty="0">
                <a:solidFill>
                  <a:srgbClr val="FFFFFF"/>
                </a:solidFill>
                <a:latin typeface="DejaVu Sans"/>
              </a:rPr>
              <a:t>Daily Ticket-arrival forecasts for the next week and month</a:t>
            </a:r>
          </a:p>
        </p:txBody>
      </p:sp>
      <p:sp>
        <p:nvSpPr>
          <p:cNvPr id="26" name="Card 3"/>
          <p:cNvSpPr/>
          <p:nvPr/>
        </p:nvSpPr>
        <p:spPr>
          <a:xfrm>
            <a:off x="7909560" y="37490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28476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Card 3 Accent"/>
          <p:cNvSpPr/>
          <p:nvPr/>
        </p:nvSpPr>
        <p:spPr>
          <a:xfrm>
            <a:off x="7909560" y="3749040"/>
            <a:ext cx="3291840" cy="64008"/>
          </a:xfrm>
          <a:prstGeom prst="rect">
            <a:avLst/>
          </a:prstGeom>
          <a:solidFill>
            <a:srgbClr val="8CC4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Card 3 Text"/>
          <p:cNvSpPr txBox="1"/>
          <p:nvPr/>
        </p:nvSpPr>
        <p:spPr>
          <a:xfrm>
            <a:off x="7909560" y="3813048"/>
            <a:ext cx="3291840" cy="1673352"/>
          </a:xfrm>
          <a:prstGeom prst="rect">
            <a:avLst/>
          </a:prstGeom>
          <a:noFill/>
        </p:spPr>
        <p:txBody>
          <a:bodyPr wrap="square" lIns="228600" tIns="228600" rIns="228600" bIns="182880" anchor="t">
            <a:normAutofit lnSpcReduction="10000"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200" b="1" spc="150" dirty="0">
                <a:solidFill>
                  <a:srgbClr val="8CC4F2"/>
                </a:solidFill>
                <a:latin typeface="DejaVu Sans"/>
              </a:rPr>
              <a:t>STATUS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1600" b="0" dirty="0">
                <a:solidFill>
                  <a:srgbClr val="FFFFFF"/>
                </a:solidFill>
                <a:latin typeface="DejaVu Sans"/>
              </a:rPr>
              <a:t>Historical experiment, not operational approval or current performance evidence</a:t>
            </a:r>
          </a:p>
        </p:txBody>
      </p:sp>
      <p:sp>
        <p:nvSpPr>
          <p:cNvPr id="40" name="Footer Rule"/>
          <p:cNvSpPr/>
          <p:nvPr/>
        </p:nvSpPr>
        <p:spPr>
          <a:xfrm>
            <a:off x="868680" y="5943600"/>
            <a:ext cx="10332720" cy="9144"/>
          </a:xfrm>
          <a:prstGeom prst="rect">
            <a:avLst/>
          </a:prstGeom>
          <a:solidFill>
            <a:srgbClr val="3E5C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Footer"/>
          <p:cNvSpPr txBox="1"/>
          <p:nvPr/>
        </p:nvSpPr>
        <p:spPr>
          <a:xfrm>
            <a:off x="868680" y="6035040"/>
            <a:ext cx="1033272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A9BCD0"/>
                </a:solidFill>
                <a:latin typeface="DejaVu Sans"/>
              </a:rPr>
              <a:t>Data scope: 27,348 Ticket records  ·  2016-01-03 to 2023-03-14 UTC  ·  Historical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Problem framing and measures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256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4B545D"/>
                </a:solidFill>
                <a:latin typeface="DejaVu Sans"/>
              </a:defRPr>
            </a:pPr>
            <a:r>
              <a:rPr lang="en-US" sz="1700" b="1" dirty="0">
                <a:solidFill>
                  <a:srgbClr val="1F3752"/>
                </a:solidFill>
                <a:latin typeface="DejaVu Sans"/>
              </a:rPr>
              <a:t>•  Retrospective:</a:t>
            </a:r>
            <a:r>
              <a:rPr lang="en-US" sz="1700" b="0" dirty="0">
                <a:solidFill>
                  <a:srgbClr val="4B545D"/>
                </a:solidFill>
                <a:latin typeface="DejaVu Sans"/>
              </a:rPr>
              <a:t> compare elapsed resolution time with configured priority references.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4B545D"/>
                </a:solidFill>
                <a:latin typeface="DejaVu Sans"/>
              </a:defRPr>
            </a:pPr>
            <a:r>
              <a:rPr lang="en-US" sz="1700" b="1" dirty="0">
                <a:solidFill>
                  <a:srgbClr val="1F3752"/>
                </a:solidFill>
                <a:latin typeface="DejaVu Sans"/>
              </a:rPr>
              <a:t>•  Predictive:</a:t>
            </a:r>
            <a:r>
              <a:rPr lang="en-US" sz="1700" b="0" dirty="0">
                <a:solidFill>
                  <a:srgbClr val="4B545D"/>
                </a:solidFill>
                <a:latin typeface="DejaVu Sans"/>
              </a:rPr>
              <a:t> count exact Ticket-type issues created per UTC day; evaluate 7- and 30-day paths.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4B545D"/>
                </a:solidFill>
                <a:latin typeface="DejaVu Sans"/>
              </a:defRPr>
            </a:pPr>
            <a:r>
              <a:rPr lang="en-US" sz="1700" b="1" dirty="0">
                <a:solidFill>
                  <a:srgbClr val="1F3752"/>
                </a:solidFill>
                <a:latin typeface="DejaVu Sans"/>
              </a:rPr>
              <a:t>•  Primary metrics:</a:t>
            </a:r>
            <a:r>
              <a:rPr lang="en-US" sz="1700" b="0" dirty="0">
                <a:solidFill>
                  <a:srgbClr val="4B545D"/>
                </a:solidFill>
                <a:latin typeface="DejaVu Sans"/>
              </a:rPr>
              <a:t> reference attainment by priority; forecast MAE/RMSE, WAPE/sMAPE and interval coverage.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4B545D"/>
                </a:solidFill>
                <a:latin typeface="DejaVu Sans"/>
              </a:defRPr>
            </a:pPr>
            <a:r>
              <a:rPr lang="en-US" sz="1700" b="0" dirty="0">
                <a:solidFill>
                  <a:srgbClr val="4B545D"/>
                </a:solidFill>
                <a:latin typeface="DejaVu Sans"/>
              </a:rPr>
              <a:t>•  No live alert is defined. SLA references are project-configured assumptions, not verified policy.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Two lenses — SLA hindsight and daily volume foresight — measured with transparent, assumption-labelled metrics.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Source, scope and data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2412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Identity:</a:t>
            </a:r>
            <a:r>
              <a:rPr lang="en-US" sz="1500" b="0" dirty="0">
                <a:solidFill>
                  <a:srgbClr val="4B545D"/>
                </a:solidFill>
                <a:latin typeface="DejaVu Sans"/>
              </a:rPr>
              <a:t> Kaggle v1 bytes and Mendeley v2 digest match. Original CC BY 4.0 conflicts with Kaggle's CC0 label.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0" dirty="0">
                <a:solidFill>
                  <a:srgbClr val="4B545D"/>
                </a:solidFill>
                <a:latin typeface="DejaVu Sans"/>
              </a:rPr>
              <a:t>•  66,691 issue rows, 58 fields; exact Ticket type is the analysis cohort.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0" dirty="0">
                <a:solidFill>
                  <a:srgbClr val="4B545D"/>
                </a:solidFill>
                <a:latin typeface="DejaVu Sans"/>
              </a:rPr>
              <a:t>•  27,348 scoped Ticket records, 2016-01-03 to 2023-03-14 UTC.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0" dirty="0">
                <a:solidFill>
                  <a:srgbClr val="4B545D"/>
                </a:solidFill>
                <a:latin typeface="DejaVu Sans"/>
              </a:rPr>
              <a:t>•  Documentation states 2016 to March 2023, but the file contains pre-2016 timestamps; earlier rows are profiled and excluded.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0" dirty="0">
                <a:solidFill>
                  <a:srgbClr val="4B545D"/>
                </a:solidFill>
                <a:latin typeface="DejaVu Sans"/>
              </a:rPr>
              <a:t>•  344/2,628 dates have no Ticket rows; treated as zero under unverified coverage assumption.</a:t>
            </a:r>
          </a:p>
        </p:txBody>
      </p:sp>
      <p:pic>
        <p:nvPicPr>
          <p:cNvPr id="6" name="Picture 5" descr="Chart of monthly created-Ticket counts, 2016 to 20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000" y="3870000"/>
            <a:ext cx="4498000" cy="13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910000"/>
            <a:ext cx="10515600" cy="30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300" i="1">
                <a:solidFill>
                  <a:srgbClr val="6B7580"/>
                </a:solidFill>
                <a:latin typeface="DejaVu Sans"/>
              </a:defRPr>
            </a:pPr>
            <a:r>
              <a:rPr lang="en-US" sz="1300" b="0" i="1" dirty="0">
                <a:solidFill>
                  <a:srgbClr val="6B7580"/>
                </a:solidFill>
                <a:latin typeface="DejaVu Sans"/>
              </a:rPr>
              <a:t>•  Monthly created-Ticket counts (notebook 02, EDA): volume varies across months and thins out in later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03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A verified 27,348-ticket cohort (2016–2023) forms the analysis base, with coverage gaps explicitly flagged.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Retrospective reference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400" b="1">
                <a:solidFill>
                  <a:srgbClr val="1F3752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Reference attainment by priority (exact Ticket type, 2016+, Done resolution, mapped priority, valid nonnegative duration):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920624"/>
              </p:ext>
            </p:extLst>
          </p:nvPr>
        </p:nvGraphicFramePr>
        <p:xfrm>
          <a:off x="822960" y="2393442"/>
          <a:ext cx="10515600" cy="27614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Priority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Reference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Met / Assessed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Attainment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1F3752"/>
                          </a:solidFill>
                          <a:latin typeface="DejaVu Sans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524 / 2,124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24.7%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1F3752"/>
                          </a:solidFill>
                          <a:latin typeface="DejaVu Sans"/>
                        </a:rPr>
                        <a:t>High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8h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576 / 3,146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18.3%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1F3752"/>
                          </a:solidFill>
                          <a:latin typeface="DejaVu Sans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24h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72 / 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23.7%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1F3752"/>
                          </a:solidFill>
                          <a:latin typeface="DejaVu Sans"/>
                        </a:rPr>
                        <a:t>Medium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24h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2,161 / 11,161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19.4%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1F3752"/>
                          </a:solidFill>
                          <a:latin typeface="DejaVu Sans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3,333 / 16,735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PH" sz="1400">
                          <a:solidFill>
                            <a:srgbClr val="4B545D"/>
                          </a:solidFill>
                          <a:latin typeface="DejaVu Sans"/>
                        </a:rPr>
                        <a:t>19.9%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114800"/>
            <a:ext cx="10515600" cy="1304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0" dirty="0">
                <a:solidFill>
                  <a:srgbClr val="4B545D"/>
                </a:solidFill>
                <a:latin typeface="DejaVu Sans"/>
              </a:rPr>
              <a:t>•  Blocker/Highest mapped to Critical 4h; High 8h; Medium 24h; Low/Lowest 24h; unknown excluded.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0" dirty="0">
                <a:solidFill>
                  <a:srgbClr val="4B545D"/>
                </a:solidFill>
                <a:latin typeface="DejaVu Sans"/>
              </a:rPr>
              <a:t>•  Duration is UTC wall-clock time from issue_created to issue_resolution_date; business-hour calendars and pause rules are not verified.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0" dirty="0">
                <a:solidFill>
                  <a:srgbClr val="4B545D"/>
                </a:solidFill>
                <a:latin typeface="DejaVu Sans"/>
              </a:rPr>
              <a:t>•  Results are reference comparisons, not contractual compliance or live warnings.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04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Only 19.9% of assessed tickets met their priority reference — attainment is low across every priority.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Key numerical measures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323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Selected forecast model performance on the later, untouched historical test split, by horizon: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186206"/>
              </p:ext>
            </p:extLst>
          </p:nvPr>
        </p:nvGraphicFramePr>
        <p:xfrm>
          <a:off x="822960" y="1874520"/>
          <a:ext cx="10515596" cy="1438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5330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Horizon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Selected model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Test MAE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Test RMSE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Test WAPE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Test sMAPE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DejaVu Sans"/>
                        </a:rPr>
                        <a:t>90% coverage</a:t>
                      </a:r>
                      <a:endParaRPr lang="en-US" sz="1300" b="1" dirty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1F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1F3752"/>
                          </a:solidFill>
                          <a:latin typeface="DejaVu Sans"/>
                        </a:rPr>
                        <a:t>7-day</a:t>
                      </a:r>
                      <a:endParaRPr lang="en-US" sz="1300" dirty="0">
                        <a:solidFill>
                          <a:srgbClr val="1F3752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XGBoost autoregression (28-day lags)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5.05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7.72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30.4%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49.0%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86.6%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1F3752"/>
                          </a:solidFill>
                          <a:latin typeface="DejaVu Sans"/>
                        </a:rPr>
                        <a:t>30-day</a:t>
                      </a:r>
                      <a:endParaRPr lang="en-US" sz="1300" dirty="0">
                        <a:solidFill>
                          <a:srgbClr val="1F3752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ETS (weekly additive)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4.67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7.20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27.5%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41.3%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4B545D"/>
                          </a:solidFill>
                          <a:latin typeface="DejaVu Sans"/>
                        </a:rPr>
                        <a:t>87.7%</a:t>
                      </a:r>
                      <a:endParaRPr lang="en-US" sz="1300" dirty="0">
                        <a:solidFill>
                          <a:srgbClr val="4B545D"/>
                        </a:solidFill>
                        <a:latin typeface="DejaVu Sans"/>
                      </a:endParaRP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246120"/>
            <a:ext cx="10515600" cy="1923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Data scale:</a:t>
            </a:r>
            <a:r>
              <a:rPr lang="en-US" sz="1400" b="0" dirty="0">
                <a:solidFill>
                  <a:srgbClr val="4B545D"/>
                </a:solidFill>
                <a:latin typeface="DejaVu Sans"/>
              </a:rPr>
              <a:t> 66,691 source rows; 27,348 scoped Ticket records; 2,628 calendar days (2016-01-03 to 2023-03-14).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0" dirty="0">
                <a:solidFill>
                  <a:srgbClr val="4B545D"/>
                </a:solidFill>
                <a:latin typeface="DejaVu Sans"/>
              </a:rPr>
              <a:t>•  344 dates (13.1%) have no Ticket rows, treated as zero under an unverified coverage assumption.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Retrospective reference attainment overall:</a:t>
            </a:r>
            <a:r>
              <a:rPr lang="en-US" sz="1400" b="0" dirty="0">
                <a:solidFill>
                  <a:srgbClr val="4B545D"/>
                </a:solidFill>
                <a:latin typeface="DejaVu Sans"/>
              </a:rPr>
              <a:t> 3,333 / 16,735 assessed tickets (19.9%).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Feature reduction:</a:t>
            </a:r>
            <a:r>
              <a:rPr lang="en-US" sz="1400" b="0" dirty="0">
                <a:solidFill>
                  <a:srgbClr val="4B545D"/>
                </a:solidFill>
                <a:latin typeface="DejaVu Sans"/>
              </a:rPr>
              <a:t> 10/34 training-only MI-selected features; PCA used 26 components for 95% of target-related variance.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05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Forecasts miss by about 5 tickets/day with ~87% interval coverage, while SLA attainment sits at 19.9%.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Process flow: source to decks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Eight notebooks, one canonical output/issue_helpdesk/ folder, then decks/report/app read from it:</a:t>
            </a:r>
          </a:p>
        </p:txBody>
      </p:sp>
      <p:pic>
        <p:nvPicPr>
          <p:cNvPr id="6" name="Picture 5" descr="Process flow diagram: eight notebooks write to one canonical output folder that feeds the decks, report and ap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875" y="2148840"/>
            <a:ext cx="6066250" cy="304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39512"/>
            <a:ext cx="10515600" cy="30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300" i="1">
                <a:solidFill>
                  <a:srgbClr val="6B7580"/>
                </a:solidFill>
                <a:latin typeface="DejaVu Sans"/>
              </a:defRPr>
            </a:pPr>
            <a:r>
              <a:rPr lang="en-US" sz="1300" i="1" dirty="0">
                <a:solidFill>
                  <a:srgbClr val="6B7580"/>
                </a:solidFill>
                <a:latin typeface="DejaVu Sans"/>
              </a:rPr>
              <a:t>•  Full step-by-step mapping with exact function and file names: docs/process_flow.md.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06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A single reproducible pipeline of eight notebooks feeds every deck, report and app output.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Seven-day and month-ahead forecast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2135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Target:</a:t>
            </a:r>
            <a:r>
              <a:rPr lang="en-US" sz="1500" b="0" dirty="0">
                <a:solidFill>
                  <a:srgbClr val="4B545D"/>
                </a:solidFill>
                <a:latin typeface="DejaVu Sans"/>
              </a:rPr>
              <a:t> daily counts of exact Ticket records; UTC calendar.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0" dirty="0">
                <a:solidFill>
                  <a:srgbClr val="4B545D"/>
                </a:solidFill>
                <a:latin typeface="DejaVu Sans"/>
              </a:rPr>
              <a:t>•  Separate 7- and 30-day expanding-window forecasts; the month horizon predicts daily counts, not one monthly total.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30-day experiment:</a:t>
            </a:r>
            <a:r>
              <a:rPr lang="en-US" sz="1500" b="0" dirty="0">
                <a:solidFill>
                  <a:srgbClr val="4B545D"/>
                </a:solidFill>
                <a:latin typeface="DejaVu Sans"/>
              </a:rPr>
              <a:t> 48 validation origins; 48 later test origins.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0" dirty="0">
                <a:solidFill>
                  <a:srgbClr val="4B545D"/>
                </a:solidFill>
                <a:latin typeface="DejaVu Sans"/>
              </a:rPr>
              <a:t>•  Compared seasonal naive, additive weekly ETS, XGBoost autoregression, and MI-selected/PCA Ridge.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0" dirty="0">
                <a:solidFill>
                  <a:srgbClr val="4B545D"/>
                </a:solidFill>
                <a:latin typeface="DejaVu Sans"/>
              </a:rPr>
              <a:t>•  Validation MAE selects a model separately for each horizon; test remains separate.</a:t>
            </a:r>
          </a:p>
        </p:txBody>
      </p:sp>
      <p:pic>
        <p:nvPicPr>
          <p:cNvPr id="6" name="Picture 5" descr="Chart of 30-day final-test forecast MAE by lead-time ba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071" y="3870000"/>
            <a:ext cx="3567857" cy="11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017840"/>
            <a:ext cx="105156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  <a:defRPr sz="1300" i="1">
                <a:solidFill>
                  <a:srgbClr val="6B7580"/>
                </a:solidFill>
                <a:latin typeface="DejaVu Sans"/>
              </a:defRPr>
            </a:pPr>
            <a:r>
              <a:rPr lang="en-US" sz="1300" b="0" i="1" dirty="0">
                <a:solidFill>
                  <a:srgbClr val="6B7580"/>
                </a:solidFill>
                <a:latin typeface="DejaVu Sans"/>
              </a:rPr>
              <a:t>•  30-day final-test MAE by lead-time band (notebook 03): error typically grows with lead time, one reason a 7-day path is tracked separately.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07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Horizon-specific models, chosen on validation and judged on a held-out test, keep the evaluation honest.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Candidate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323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30-day validation winner:</a:t>
            </a:r>
            <a:r>
              <a:rPr lang="en-US" sz="1400" b="0" dirty="0">
                <a:solidFill>
                  <a:srgbClr val="4B545D"/>
                </a:solidFill>
                <a:latin typeface="DejaVu Sans"/>
              </a:rPr>
              <a:t> ETS (weekly additive) (MAE 4.39 tickets/day).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6950601"/>
              </p:ext>
            </p:extLst>
          </p:nvPr>
        </p:nvGraphicFramePr>
        <p:xfrm>
          <a:off x="822960" y="1874520"/>
          <a:ext cx="10515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 b="1">
                          <a:solidFill>
                            <a:srgbClr val="FFFFFF"/>
                          </a:solidFill>
                          <a:latin typeface="DejaVu Sans"/>
                        </a:rPr>
                        <a:t>Model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 b="1">
                          <a:solidFill>
                            <a:srgbClr val="FFFFFF"/>
                          </a:solidFill>
                          <a:latin typeface="DejaVu Sans"/>
                        </a:rPr>
                        <a:t>Validation MAE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 b="1">
                          <a:solidFill>
                            <a:srgbClr val="FFFFFF"/>
                          </a:solidFill>
                          <a:latin typeface="DejaVu Sans"/>
                        </a:rPr>
                        <a:t>Validation RMSE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 b="1">
                          <a:solidFill>
                            <a:srgbClr val="FFFFFF"/>
                          </a:solidFill>
                          <a:latin typeface="DejaVu Sans"/>
                        </a:rPr>
                        <a:t>Test MAE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 b="1">
                          <a:solidFill>
                            <a:srgbClr val="1F3752"/>
                          </a:solidFill>
                          <a:latin typeface="DejaVu Sans"/>
                        </a:rPr>
                        <a:t>ETS (weekly additive)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 b="1">
                          <a:solidFill>
                            <a:srgbClr val="4B545D"/>
                          </a:solidFill>
                          <a:latin typeface="DejaVu Sans"/>
                        </a:rPr>
                        <a:t>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 b="1">
                          <a:solidFill>
                            <a:srgbClr val="4B545D"/>
                          </a:solidFill>
                          <a:latin typeface="DejaVu Sans"/>
                        </a:rPr>
                        <a:t>6.09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 b="1">
                          <a:solidFill>
                            <a:srgbClr val="4B545D"/>
                          </a:solidFill>
                          <a:latin typeface="DejaVu Sans"/>
                        </a:rPr>
                        <a:t>4.67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1F3752"/>
                          </a:solidFill>
                          <a:latin typeface="DejaVu Sans"/>
                        </a:rPr>
                        <a:t>XGBoost autoregression (28-day lags)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4.68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6.71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5.42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1F3752"/>
                          </a:solidFill>
                          <a:latin typeface="DejaVu Sans"/>
                        </a:rPr>
                        <a:t>Ridge (MI-selected features + PCA)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4.78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6.86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300">
                          <a:solidFill>
                            <a:srgbClr val="1F3752"/>
                          </a:solidFill>
                          <a:latin typeface="DejaVu Sans"/>
                        </a:rPr>
                        <a:t>Seasonal naive (same weekday last week)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5.41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7.80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PH" sz="1300">
                          <a:solidFill>
                            <a:srgbClr val="4B545D"/>
                          </a:solidFill>
                          <a:latin typeface="DejaVu Sans"/>
                        </a:rPr>
                        <a:t>6.49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749040"/>
            <a:ext cx="10515600" cy="972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0" dirty="0">
                <a:solidFill>
                  <a:srgbClr val="4B545D"/>
                </a:solidFill>
                <a:latin typeface="DejaVu Sans"/>
              </a:rPr>
              <a:t>•  30-day selected-model test MAE 4.67, RMSE 7.20, WAPE 27.5%, sMAPE 41.3%.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400">
                <a:solidFill>
                  <a:srgbClr val="4B545D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7-day comparison:</a:t>
            </a:r>
            <a:r>
              <a:rPr lang="en-US" sz="1400" b="0" dirty="0">
                <a:solidFill>
                  <a:srgbClr val="4B545D"/>
                </a:solidFill>
                <a:latin typeface="DejaVu Sans"/>
              </a:rPr>
              <a:t> XGBoost autoregression (28-day lags), test MAE 5.05 tickets/day (its own validation-selected model).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08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Weekly ETS wins the 30-day horizon (test MAE 4.67), cutting error ~28% versus the seasonal naive baseline.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Uncertainty and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1304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400" b="0">
                <a:solidFill>
                  <a:srgbClr val="4B545D"/>
                </a:solidFill>
                <a:latin typeface="DejaVu Sans"/>
              </a:defRPr>
            </a:pPr>
            <a:r>
              <a:rPr lang="en-US" sz="1400" b="0" dirty="0">
                <a:solidFill>
                  <a:srgbClr val="4B545D"/>
                </a:solidFill>
                <a:latin typeface="DejaVu Sans"/>
              </a:rPr>
              <a:t>•  MAE is the typical daily miss; RMSE emphasizes larger errors. WAPE/sMAPE express relative error.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400" b="0">
                <a:solidFill>
                  <a:srgbClr val="4B545D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Selected-model 90% test interval coverage:</a:t>
            </a:r>
            <a:r>
              <a:rPr lang="en-US" sz="1400" b="0" dirty="0">
                <a:solidFill>
                  <a:srgbClr val="4B545D"/>
                </a:solidFill>
                <a:latin typeface="DejaVu Sans"/>
              </a:rPr>
              <a:t> 87.7%; calibrated on validation residuals.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400" b="0">
                <a:solidFill>
                  <a:srgbClr val="4B545D"/>
                </a:solidFill>
                <a:latin typeface="DejaVu Sans"/>
              </a:defRPr>
            </a:pPr>
            <a:r>
              <a:rPr lang="en-US" sz="1400" b="1" dirty="0">
                <a:solidFill>
                  <a:srgbClr val="1F3752"/>
                </a:solidFill>
                <a:latin typeface="DejaVu Sans"/>
              </a:rPr>
              <a:t>•  Panel:</a:t>
            </a:r>
            <a:r>
              <a:rPr lang="en-US" sz="1400" b="0" dirty="0">
                <a:solidFill>
                  <a:srgbClr val="4B545D"/>
                </a:solidFill>
                <a:latin typeface="DejaVu Sans"/>
              </a:rPr>
              <a:t> XGBoost SHAP, not ETS. Separate ETS state/residual evidence is linked in the report; fitted residuals are not test errors.</a:t>
            </a:r>
          </a:p>
        </p:txBody>
      </p:sp>
      <p:pic>
        <p:nvPicPr>
          <p:cNvPr id="6" name="Picture 5" descr="Explainability panel showing XGBoost feature importance and SHAP values, led by lag_21, lag_28 and lag_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2147" y="2813712"/>
            <a:ext cx="7177500" cy="174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000000"/>
            <a:ext cx="10515600" cy="547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300" i="1">
                <a:solidFill>
                  <a:srgbClr val="6B7580"/>
                </a:solidFill>
                <a:latin typeface="DejaVu Sans"/>
              </a:defRPr>
            </a:pPr>
            <a:r>
              <a:rPr lang="en-US" sz="1300" i="1" dirty="0">
                <a:solidFill>
                  <a:srgbClr val="6B7580"/>
                </a:solidFill>
                <a:latin typeface="DejaVu Sans"/>
              </a:rPr>
              <a:t>•  Leading XGBoost validation features: lag_21, lag_28, lag_14. Validation-only SHAP highlights: lag_28, lag_21, lag_14; importance is association, not causation. Feature selection kept 10/34 MI-selected features.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09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Intervals are well calibrated (87.7% vs. 90% target), and recent weekly lags drive the forecast.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Ethics and fairness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3130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4B545D"/>
                </a:solidFill>
                <a:latin typeface="DejaVu Sans"/>
              </a:defRPr>
            </a:pPr>
            <a:r>
              <a:rPr lang="en-US" sz="1600" b="1" dirty="0">
                <a:solidFill>
                  <a:srgbClr val="1F3752"/>
                </a:solidFill>
                <a:latin typeface="DejaVu Sans"/>
              </a:rPr>
              <a:t>•  No approved protected demographic attributes:</a:t>
            </a:r>
            <a:r>
              <a:rPr lang="en-US" sz="1600" b="0" dirty="0">
                <a:solidFill>
                  <a:srgbClr val="4B545D"/>
                </a:solidFill>
                <a:latin typeface="DejaVu Sans"/>
              </a:rPr>
              <a:t> protected-group fairness cannot be assessed.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4B545D"/>
                </a:solidFill>
                <a:latin typeface="DejaVu Sans"/>
              </a:defRPr>
            </a:pPr>
            <a:r>
              <a:rPr lang="en-US" sz="1600" b="0" dirty="0">
                <a:solidFill>
                  <a:srgbClr val="4B545D"/>
                </a:solidFill>
                <a:latin typeface="DejaVu Sans"/>
              </a:rPr>
              <a:t>•  Priority attainment uses priority-specific reference values; group rates need contextual interpretation.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4B545D"/>
                </a:solidFill>
                <a:latin typeface="DejaVu Sans"/>
              </a:defRPr>
            </a:pPr>
            <a:r>
              <a:rPr lang="en-US" sz="1600" b="0" dirty="0">
                <a:solidFill>
                  <a:srgbClr val="4B545D"/>
                </a:solidFill>
                <a:latin typeface="DejaVu Sans"/>
              </a:rPr>
              <a:t>•  One aggregate forecast series cannot test allocation fairness across queue, site or shift.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4B545D"/>
                </a:solidFill>
                <a:latin typeface="DejaVu Sans"/>
              </a:defRPr>
            </a:pPr>
            <a:r>
              <a:rPr lang="en-US" sz="1600" b="0" dirty="0">
                <a:solidFill>
                  <a:srgbClr val="4B545D"/>
                </a:solidFill>
                <a:latin typeface="DejaVu Sans"/>
              </a:rPr>
              <a:t>•  Small masked-project groups should not be ranked; retain human review and investigate persistent under-forecasting.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4B545D"/>
                </a:solidFill>
                <a:latin typeface="DejaVu Sans"/>
              </a:defRPr>
            </a:pPr>
            <a:r>
              <a:rPr lang="en-US" sz="1600" b="0" dirty="0">
                <a:solidFill>
                  <a:srgbClr val="4B545D"/>
                </a:solidFill>
                <a:latin typeface="DejaVu Sans"/>
              </a:rPr>
              <a:t>•  Missing demographics, measured ROI or production are not automatic academic failures; explicit rubric requirements still apply.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Fairness cannot be fully assessed with current data, so human review remains essential.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Deployment, MLOps and Power BI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3243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Selected model</a:t>
            </a:r>
            <a:r>
              <a:rPr lang="en-US" sz="1500" b="0" dirty="0">
                <a:solidFill>
                  <a:srgbClr val="4B545D"/>
                </a:solidFill>
                <a:latin typeface="DejaVu Sans"/>
              </a:rPr>
              <a:t> persisted and served via a FastAPI POC (src/app.py); MLflow run 269964acc543 logs the same parameters and metrics for reproducibility.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MLflow experiment 'helpdesk_volume_forecast':</a:t>
            </a:r>
            <a:r>
              <a:rPr lang="en-US" sz="1500" b="0" dirty="0">
                <a:solidFill>
                  <a:srgbClr val="4B545D"/>
                </a:solidFill>
                <a:latin typeface="DejaVu Sans"/>
              </a:rPr>
              <a:t> validation MAE 4.39, test MAE 4.67.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Power BI ready export folder</a:t>
            </a:r>
            <a:r>
              <a:rPr lang="en-US" sz="1500" b="0" dirty="0">
                <a:solidFill>
                  <a:srgbClr val="4B545D"/>
                </a:solidFill>
                <a:latin typeface="DejaVu Sans"/>
              </a:rPr>
              <a:t> (fact_tickets_sla.csv, 4 report pages, 4 rendered sample screenshots) covers both the after the fact SLA report and the volume forecast, rebuilt from source data on every run so it scales to a larger dataset.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Power BI Desktop</a:t>
            </a:r>
            <a:r>
              <a:rPr lang="en-US" sz="1500" b="0" dirty="0">
                <a:solidFill>
                  <a:srgbClr val="4B545D"/>
                </a:solidFill>
                <a:latin typeface="DejaVu Sans"/>
              </a:rPr>
              <a:t> is not installed in this environment, so the screenshots are rendered stand ins from the same export tables, not native .pbix captures.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rPr lang="en-US" sz="1500" b="1" dirty="0">
                <a:solidFill>
                  <a:srgbClr val="1F3752"/>
                </a:solidFill>
                <a:latin typeface="DejaVu Sans"/>
              </a:rPr>
              <a:t>•  Monitoring plan</a:t>
            </a:r>
            <a:r>
              <a:rPr lang="en-US" sz="1500" b="0" dirty="0">
                <a:solidFill>
                  <a:srgbClr val="4B545D"/>
                </a:solidFill>
                <a:latin typeface="DejaVu Sans"/>
              </a:rPr>
              <a:t> defines retrain triggers (schedule, drift, new source coverage) before any of this becomes an operational service.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The model is reproducible and demo-ready end to end, but not yet an operational service.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Integration readiness and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878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4B545D"/>
                </a:solidFill>
                <a:latin typeface="DejaVu Sans"/>
              </a:defRPr>
            </a:pPr>
            <a:r>
              <a:rPr lang="en-US" sz="1700" b="1" dirty="0">
                <a:solidFill>
                  <a:srgbClr val="1F3752"/>
                </a:solidFill>
                <a:latin typeface="DejaVu Sans"/>
              </a:rPr>
              <a:t>•  Ready locally:</a:t>
            </a:r>
            <a:r>
              <a:rPr lang="en-US" sz="1700" b="0" dirty="0">
                <a:solidFill>
                  <a:srgbClr val="4B545D"/>
                </a:solidFill>
                <a:latin typeface="DejaVu Sans"/>
              </a:rPr>
              <a:t> data profile, cohort rules, rolling backtest, validation selection, error/interval outputs and monitoring plan.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4B545D"/>
                </a:solidFill>
                <a:latin typeface="DejaVu Sans"/>
              </a:defRPr>
            </a:pPr>
            <a:r>
              <a:rPr lang="en-US" sz="1700" b="1" dirty="0">
                <a:solidFill>
                  <a:srgbClr val="1F3752"/>
                </a:solidFill>
                <a:latin typeface="DejaVu Sans"/>
              </a:rPr>
              <a:t>•  Not ready:</a:t>
            </a:r>
            <a:r>
              <a:rPr lang="en-US" sz="1700" b="0" dirty="0">
                <a:solidFill>
                  <a:srgbClr val="4B545D"/>
                </a:solidFill>
                <a:latin typeface="DejaVu Sans"/>
              </a:rPr>
              <a:t> verified coverage, current arrivals, approved SLA rules, segmented forecasts or production integration.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4B545D"/>
                </a:solidFill>
                <a:latin typeface="DejaVu Sans"/>
              </a:defRPr>
            </a:pPr>
            <a:r>
              <a:rPr lang="en-US" sz="1700" b="1" dirty="0">
                <a:solidFill>
                  <a:srgbClr val="1F3752"/>
                </a:solidFill>
                <a:latin typeface="DejaVu Sans"/>
              </a:rPr>
              <a:t>•  Next:</a:t>
            </a:r>
            <a:r>
              <a:rPr lang="en-US" sz="1700" b="0" dirty="0">
                <a:solidFill>
                  <a:srgbClr val="4B545D"/>
                </a:solidFill>
                <a:latin typeface="DejaVu Sans"/>
              </a:rPr>
              <a:t> confirm source range/zero days and policy; test on current future data against the seasonal baseline.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700">
                <a:solidFill>
                  <a:srgbClr val="4B545D"/>
                </a:solidFill>
                <a:latin typeface="DejaVu Sans"/>
              </a:defRPr>
            </a:pPr>
            <a:r>
              <a:rPr lang="en-US" sz="1700" b="1" dirty="0">
                <a:solidFill>
                  <a:srgbClr val="1F3752"/>
                </a:solidFill>
                <a:latin typeface="DejaVu Sans"/>
              </a:rPr>
              <a:t>•  Conclusion:</a:t>
            </a:r>
            <a:r>
              <a:rPr lang="en-US" sz="1700" b="0" dirty="0">
                <a:solidFill>
                  <a:srgbClr val="4B545D"/>
                </a:solidFill>
                <a:latin typeface="DejaVu Sans"/>
              </a:rPr>
              <a:t> stronger historical prototype, not an operationally validated staffing or compliance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  <p:sp>
        <p:nvSpPr>
          <p:cNvPr id="50" name="Takeaway Banner"/>
          <p:cNvSpPr/>
          <p:nvPr/>
        </p:nvSpPr>
        <p:spPr>
          <a:xfrm>
            <a:off x="594360" y="5715000"/>
            <a:ext cx="11003280" cy="594360"/>
          </a:xfrm>
          <a:prstGeom prst="roundRect">
            <a:avLst>
              <a:gd name="adj" fmla="val 12000"/>
            </a:avLst>
          </a:prstGeom>
          <a:solidFill>
            <a:srgbClr val="1F3752"/>
          </a:solidFill>
          <a:ln>
            <a:noFill/>
          </a:ln>
        </p:spPr>
        <p:txBody>
          <a:bodyPr wrap="square" lIns="228600" tIns="45720" rIns="182880" bIns="4572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8CC4F2"/>
                </a:solidFill>
                <a:latin typeface="DejaVu Sans"/>
              </a:rPr>
              <a:t>KEY TAKEAWAY  |  </a:t>
            </a:r>
            <a:r>
              <a:rPr lang="en-US" sz="1500" b="0" dirty="0">
                <a:solidFill>
                  <a:srgbClr val="FFFFFF"/>
                </a:solidFill>
                <a:latin typeface="DejaVu Sans"/>
              </a:rPr>
              <a:t>A strong historical prototype — the next step is validating on current data before operational use.</a:t>
            </a:r>
          </a:p>
        </p:txBody>
      </p:sp>
      <p:sp>
        <p:nvSpPr>
          <p:cNvPr id="51" name="Takeaway Accent"/>
          <p:cNvSpPr/>
          <p:nvPr/>
        </p:nvSpPr>
        <p:spPr>
          <a:xfrm>
            <a:off x="594360" y="5715000"/>
            <a:ext cx="82296" cy="594360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1595</Words>
  <Application>Microsoft Office PowerPoint</Application>
  <PresentationFormat>Widescreen</PresentationFormat>
  <Paragraphs>166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DejaVu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Bitor, Ana Jane C.</dc:creator>
  <cp:keywords/>
  <dc:description>generated using python-pptx</dc:description>
  <cp:lastModifiedBy>Bitor, Ana Jane C.</cp:lastModifiedBy>
  <cp:revision>2</cp:revision>
  <dcterms:created xsi:type="dcterms:W3CDTF">2013-01-27T09:14:16Z</dcterms:created>
  <dcterms:modified xsi:type="dcterms:W3CDTF">2026-10-02T07:52:23Z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8fd6ad0-aa89-48a4-baf8-39a87521f7bb_Enabled">
    <vt:lpwstr>true</vt:lpwstr>
  </property>
  <property fmtid="{D5CDD505-2E9C-101B-9397-08002B2CF9AE}" pid="3" name="MSIP_Label_f8fd6ad0-aa89-48a4-baf8-39a87521f7bb_SetDate">
    <vt:lpwstr>2026-10-02T07:41:33Z</vt:lpwstr>
  </property>
  <property fmtid="{D5CDD505-2E9C-101B-9397-08002B2CF9AE}" pid="4" name="MSIP_Label_f8fd6ad0-aa89-48a4-baf8-39a87521f7bb_Method">
    <vt:lpwstr>Privileged</vt:lpwstr>
  </property>
  <property fmtid="{D5CDD505-2E9C-101B-9397-08002B2CF9AE}" pid="5" name="MSIP_Label_f8fd6ad0-aa89-48a4-baf8-39a87521f7bb_Name">
    <vt:lpwstr>f8fd6ad0-aa89-48a4-baf8-39a87521f7bb</vt:lpwstr>
  </property>
  <property fmtid="{D5CDD505-2E9C-101B-9397-08002B2CF9AE}" pid="6" name="MSIP_Label_f8fd6ad0-aa89-48a4-baf8-39a87521f7bb_SiteId">
    <vt:lpwstr>8a526632-57dd-46c8-94e3-473cb3d70348</vt:lpwstr>
  </property>
  <property fmtid="{D5CDD505-2E9C-101B-9397-08002B2CF9AE}" pid="7" name="MSIP_Label_f8fd6ad0-aa89-48a4-baf8-39a87521f7bb_ActionId">
    <vt:lpwstr>97f59966-5a0b-4c41-8ee0-e3ff4d555a9d</vt:lpwstr>
  </property>
  <property fmtid="{D5CDD505-2E9C-101B-9397-08002B2CF9AE}" pid="8" name="MSIP_Label_f8fd6ad0-aa89-48a4-baf8-39a87521f7bb_ContentBits">
    <vt:lpwstr>0</vt:lpwstr>
  </property>
  <property fmtid="{D5CDD505-2E9C-101B-9397-08002B2CF9AE}" pid="9" name="MSIP_Label_f8fd6ad0-aa89-48a4-baf8-39a87521f7bb_Tag">
    <vt:lpwstr>10, 0, 1, 1</vt:lpwstr>
  </property>
</Properties>
</file>